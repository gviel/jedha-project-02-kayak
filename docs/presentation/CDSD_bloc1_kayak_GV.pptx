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7">
          <p15:clr>
            <a:srgbClr val="747775"/>
          </p15:clr>
        </p15:guide>
        <p15:guide id="2" pos="5556">
          <p15:clr>
            <a:srgbClr val="747775"/>
          </p15:clr>
        </p15:guide>
        <p15:guide id="3" orient="horz" pos="3005">
          <p15:clr>
            <a:srgbClr val="747775"/>
          </p15:clr>
        </p15:guide>
        <p15:guide id="4" orient="horz" pos="4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711245-25C9-4A6F-8BC0-43C74E8E9376}">
  <a:tblStyle styleId="{FE711245-25C9-4A6F-8BC0-43C74E8E93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/>
        <p:guide pos="5556"/>
        <p:guide pos="3005" orient="horz"/>
        <p:guide pos="4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Light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Light-boldItalic.fntdata"/><Relationship Id="rId30" Type="http://schemas.openxmlformats.org/officeDocument/2006/relationships/font" Target="fonts/Roboto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f453f1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f453f1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f06be40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df06be40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f06be4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f06be4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f06be40a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f06be40a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f06be40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df06be40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f06be40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f06be40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df06be40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df06be40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f06be4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df06be4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f06be40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df06be40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df06be40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df06be40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df06be40a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df06be40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df06be40a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df06be40a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df06be40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df06be40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df06be40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df06be40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f06be40a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df06be40a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df06be40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df06be40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github.com/gviel/jedha-project-02-kaya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booking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jedha-project-02-kayak-4kzhtcxgjjwncdsldqjdmq.streamlit.app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0000" y="1601375"/>
            <a:ext cx="846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Bloc 1 : Construction et alimentation 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d'une infrastructure de gestion de données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292" y="3945075"/>
            <a:ext cx="2184783" cy="4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</a:t>
            </a: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800" y="3945075"/>
            <a:ext cx="1947501" cy="468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13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291750" y="2697020"/>
            <a:ext cx="8528400" cy="565800"/>
          </a:xfrm>
          <a:prstGeom prst="rect">
            <a:avLst/>
          </a:prstGeom>
          <a:solidFill>
            <a:srgbClr val="FFFFFF">
              <a:alpha val="203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</a:rPr>
              <a:t>Où planifiez vos prochaines vacances?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554100" y="3353825"/>
            <a:ext cx="157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hlinkClick r:id="rId6"/>
              </a:rPr>
              <a:t>Dépôt Github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Contexte et besoins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Le besoin chez Kayak</a:t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57825" y="1221516"/>
            <a:ext cx="85800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Développer une application de recommandation de destinations de vacances basée sur des données réelles afin d'aider les voyageurs à mieux choisir leur prochain séjour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70% de leurs clients le demandent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Pour identifier et recommander les meilleures destinations et hébergements à un instant donné, Kayak demande d’u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tiliser des informations réelles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 météo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meilleurs hôtels disponibles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Objectifs et périmètre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02700" y="1361335"/>
            <a:ext cx="85800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Collecter des données pour chacune des 35 villes destinations 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données météorologiques avec OpenWeatherMap (OWM) : prévisions à 4j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données sur les hôtels les mieux notés sur Booking.com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Stocker ces données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dans un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extraire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et les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charger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ETL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vers un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 de disposer de données exploitables pour l’application de recommandation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Architecture de la solution proposée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5400" y="703399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Un pipeline automatisé en 7 étapes</a:t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02700" y="1236232"/>
            <a:ext cx="8580000" cy="3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Géocodage Nominatim : coordonnées géo (long., lat.)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 35 villes choisies en config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OpenWeatherMap : prévisions de J+1 à J+4 (free tier 1000 req/j)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Score météo pondéré (0-100 points): permet le classement des villes destination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Scraping de </a:t>
            </a:r>
            <a:r>
              <a:rPr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Booking.com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(avec Playwright) : les 20 premiers hôtels des 5 meilleurs destinations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Upload vers le data lake qui sera un bucket AWS S3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Chargement des données vers un data warehouse : BdD PostgreSQL (Neon)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Dashboard de visualisation interactive (Streamlit)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 est exécuté automatiquement tous les jours à 6h00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Purge locale des fichiers effectuée pour météo et hôtels (pour les X dates précédents ou X jours précédents, X configurable) 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Choix des données (1)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65400" y="666596"/>
            <a:ext cx="84546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02700" y="816900"/>
            <a:ext cx="8580000" cy="3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Nominatim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longitude, latitude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 nom de ville tel que le propose Nominatim (utile pour former l’adresse de l’hôtel)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OpenWeatherMap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date du jour et heure (8 créneaux de 3h)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température, température ressentie, temp. min et max en degrés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pression atmosphérique (mmHg)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 humidité, % couverture nuageuse, vitesse du vent (km/h)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probabilité d’avoir de la pluie (%)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Booking.com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 de l’hôtel, lat.+long., description, note, URL booking, address, ville, code postal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Choix des données (2) : modèle de scoring météo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65400" y="666596"/>
            <a:ext cx="84546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02700" y="816900"/>
            <a:ext cx="8580000" cy="4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Scoring fondé sur le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Tourism Climatic Index de Mieczkowski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score composite 0–100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fondé sur les 6 critères météo retenus (créneaux 08h–20h)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classification par tranche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des valeurs de météo retenues. Exemples 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temp. &lt;0°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très froid =&gt;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score 0/10, de 18 à 28° = idéal =&gt; 10/10, &gt;33°=&gt; 0/10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proba pluie : score = (1-rain_proba)x100, etc.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pour chaque jour de prévision : moyenne des valeurs de 8-20h puis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score pondéré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Température ressentie 30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Probabilité de pluie 30%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Vitesse du vent 15%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Couverture nuageuse 10%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Humidité 10%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Pression atmosphérique 5%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score final = moyenne des 4j + pénalité de variabilité météo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-10 pts si min ou max dépasse mean ± 3σ (jusqu'à -20 pts au total)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Pipeline data : robustesse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65400" y="754902"/>
            <a:ext cx="8454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02700" y="912400"/>
            <a:ext cx="8580000" cy="3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Conçu pour s’exécuter de façon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autonome en production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CRON qui s’exécute à 6h00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purge locale fichiers météo et hôtels des X jours précédents ou à moins X jours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Résilience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cache JSON local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pour les localisations des villes et résultats météo: pas d’appels redondants et évite d’envoyer des requêtes inutiles qui bloquerait l’accès à Nominatim ou OWM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mécanismes de réessai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avec backoff exponentiel et jitter sur les erreurs de requêtage (ex: 429, 5xx) vers Nominatim ou OWM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idempotence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on vérifie les fichiers existants avant l’appel à l’API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Organisation et historisation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répertoires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la forme ‘yyyyMMdd/’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en local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ou S3 + file naming patterns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chaque exécution est indépendante de la précédente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Pipeline data : coûts de la solution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65400" y="754903"/>
            <a:ext cx="8454600" cy="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40000" y="897137"/>
            <a:ext cx="8580000" cy="3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solution AWS RDS non retenue par rapport à Neon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déploiement sur cloud (AWS EC2, GCP, OVH?) à prévoir pour le pipeline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{FE711245-25C9-4A6F-8BC0-43C74E8E9376}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Source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Limites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Plan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Co</a:t>
                      </a:r>
                      <a:r>
                        <a:rPr b="1" lang="fr"/>
                        <a:t>ûts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Nominatim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 req / sec max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Gratuit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OpenWeatherMap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1000 req/j max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Free tier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AWS S3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pay-as-you-go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Neon PostgreSQL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 bdd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Serverless plan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AWS RDS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pay-as-you-go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&gt;0€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Cloud server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OVH?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&gt;0€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Architecture détaillée de l’ETL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65400" y="754885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1"/>
          <p:cNvGrpSpPr/>
          <p:nvPr/>
        </p:nvGrpSpPr>
        <p:grpSpPr>
          <a:xfrm>
            <a:off x="5632317" y="1189775"/>
            <a:ext cx="3305700" cy="3580275"/>
            <a:chOff x="5632317" y="1189775"/>
            <a:chExt cx="3305700" cy="3580275"/>
          </a:xfrm>
        </p:grpSpPr>
        <p:sp>
          <p:nvSpPr>
            <p:cNvPr id="145" name="Google Shape;145;p21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LOAD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5997075" y="1898450"/>
              <a:ext cx="2865000" cy="28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upload vers </a:t>
              </a:r>
              <a:r>
                <a:rPr lang="fr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S3/{PREFIX}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cities.csv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fichiers météo et 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hôtels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du jour dans YYYYMMDD/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stratégies d’upload BDD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replace pour cities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replace pour les scores météo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upsert pour les scores météo par jour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merge + replace par plus récent pour les hôtels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>
            <a:off x="-600" y="1189774"/>
            <a:ext cx="3546900" cy="3401901"/>
            <a:chOff x="0" y="1189989"/>
            <a:chExt cx="3546900" cy="3401901"/>
          </a:xfrm>
        </p:grpSpPr>
        <p:sp>
          <p:nvSpPr>
            <p:cNvPr id="148" name="Google Shape;148;p21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EXTRACT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21"/>
            <p:cNvSpPr txBox="1"/>
            <p:nvPr/>
          </p:nvSpPr>
          <p:spPr>
            <a:xfrm>
              <a:off x="250775" y="1976190"/>
              <a:ext cx="26343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latin typeface="Roboto"/>
                  <a:ea typeface="Roboto"/>
                  <a:cs typeface="Roboto"/>
                  <a:sym typeface="Roboto"/>
                </a:rPr>
                <a:t>NOMINATIM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: mise en cache json/cities/city-{city_id}.json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latin typeface="Roboto"/>
                  <a:ea typeface="Roboto"/>
                  <a:cs typeface="Roboto"/>
                  <a:sym typeface="Roboto"/>
                </a:rPr>
                <a:t>OWM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: mise en cache weather/YYYYMMDD/weather-{city_id}-YYYYMMDD.json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latin typeface="Roboto"/>
                  <a:ea typeface="Roboto"/>
                  <a:cs typeface="Roboto"/>
                  <a:sym typeface="Roboto"/>
                </a:rPr>
                <a:t>Booking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: mise en cache de html/{city_id}_liste.html (pour debug)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21"/>
          <p:cNvGrpSpPr/>
          <p:nvPr/>
        </p:nvGrpSpPr>
        <p:grpSpPr>
          <a:xfrm>
            <a:off x="2944204" y="1189775"/>
            <a:ext cx="3305700" cy="3519200"/>
            <a:chOff x="2944204" y="1189775"/>
            <a:chExt cx="3305700" cy="3519200"/>
          </a:xfrm>
        </p:grpSpPr>
        <p:sp>
          <p:nvSpPr>
            <p:cNvPr id="151" name="Google Shape;151;p21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21"/>
            <p:cNvSpPr txBox="1"/>
            <p:nvPr/>
          </p:nvSpPr>
          <p:spPr>
            <a:xfrm>
              <a:off x="3281850" y="1924675"/>
              <a:ext cx="2685900" cy="27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latin typeface="Roboto"/>
                  <a:ea typeface="Roboto"/>
                  <a:cs typeface="Roboto"/>
                  <a:sym typeface="Roboto"/>
                </a:rPr>
                <a:t>NOMINATIM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: compilation des villes dans csv/cities.csv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latin typeface="Roboto"/>
                  <a:ea typeface="Roboto"/>
                  <a:cs typeface="Roboto"/>
                  <a:sym typeface="Roboto"/>
                </a:rPr>
                <a:t>OWM</a:t>
              </a:r>
              <a:r>
                <a:rPr lang="fr" sz="1200">
                  <a:latin typeface="Roboto"/>
                  <a:ea typeface="Roboto"/>
                  <a:cs typeface="Roboto"/>
                  <a:sym typeface="Roboto"/>
                </a:rPr>
                <a:t> : csv/YYYYMMDD/weather-scores-YYYYMMDD.csv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csv/YYYYMMDD/weather-scores-daily-YYYYMMDD.csv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Booking</a:t>
              </a:r>
              <a:r>
                <a:rPr lang="fr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: en même temps que l’extract csv/YYYYMMDD/hotels-{city_id}-YYYYMMDD.csv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Arborescence locale de stockage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282000" y="754898"/>
            <a:ext cx="8580000" cy="3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data/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├── csv/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├── cities.csv                               ← référence villes (city_id, city_name, lat, lon)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│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└── YYYYMMDD/                                ← un répertoire par jour d'extraction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    ├── weather-scores-YYYYMMDD.csv          ← agrégat 4j par ville (score_final)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    ├── weather-scores-daily-YYYYMMDD.csv    ← score par ville × jour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    └── hotels-{city_id}-YYYYMMDD.csv        ← un fichier par ville scrapée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├── json/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├── cities/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│   └── city-{city_id}.json                  ← cache Nominatim par ville (permanent)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│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└── weather/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    └── YYYYMMDD/                            ← un répertoire par jour de prévision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           └── weather-{city_id}-YYYYMMDD.json  ← prévisions J+1 à J+4 (4 fichiers/ville)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└── html/                                        ← pages Booking.com (debug, purge &gt; 4j)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└── {city_id}_liste.html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Arborescence data lake S3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344700" y="722528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282000" y="1195646"/>
            <a:ext cx="85800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s3://&lt;S3_BUCKET&gt;/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│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└── csv/                                         ← S3_PREFIX (défaut : "csv/")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│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├── cities.csv                               ← référence villes (pas de date)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│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└── YYYYMMDD/                                ← un répertoire par jour d'extraction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├── weather-scores-YYYYMMDD.csv          ← agrégat 4j par ville (score_final)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├── weather-scores-daily-YYYYMMDD.csv    ← score par ville × jour (pour la courbe de suivi des scores)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└── hotels-{city_id}-YYYYMMDD.csv        ← un fichier par ville scrapée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344700" y="0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Schéma du data warehouse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302700" y="7200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2700" y="1361335"/>
            <a:ext cx="85800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 tables PostgreSQL :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contient la date de chargement de chacune des tables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cities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contient les données Nominatim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weather_scores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les scores calculés pour le jour J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weather_scores_daily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pour avoir un historique des scores détaillés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hotels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les données relatives des hôtels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344700" y="-330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Dashboard en production (1)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365400" y="754897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https://jedha-project-02-kayak-4kzhtcxgjjwncdsldqjdmq.streamlit.app/</a:t>
            </a:r>
            <a:endParaRPr sz="18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Carte interactive des destinations avec les 5 premiers dans le tableau à droite</a:t>
            </a:r>
            <a:endParaRPr sz="18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02700" y="1361325"/>
            <a:ext cx="43845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73735"/>
            <a:ext cx="9143998" cy="320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Dashboard en production (2)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Carte interactive des hôtels (et popup) avec tableau à droite pour les infos</a:t>
            </a:r>
            <a:endParaRPr sz="18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808"/>
            <a:ext cx="8839200" cy="2700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Difficultés ou limitations rencontrées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302700" y="1361335"/>
            <a:ext cx="85800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Nominatim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limitation du nombre de requêtes -&gt; cache + pause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OpenWeatherMap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limitation à 4j + gestion d’erreurs API + choix des données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Modèle de scoring météo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choix des données et des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agrégations pour le modèle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Scraping booking.com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un anti-bot agressif qui a nécessité une bascule de scrapy vers Playwright pour mieux simuler le comportement d’un humain (délais de clic, fermeture popups)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Construire et tester une Architecture autonome et résiliente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 de Notebook -&gt; des scripts indépendants, déploiement sous forme d’un pipeline avec exécution quotidienne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Améliorations possibles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282000" y="1325785"/>
            <a:ext cx="85800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Utiliser un orchestrateur de pipeline :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Airflow ou Jenkins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Interface web pour téléphones mobiles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 exemple avec une stack Nextjs / Typescript / Boostrap CSS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1 -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/>
        </p:nvSpPr>
        <p:spPr>
          <a:xfrm>
            <a:off x="360000" y="1601375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Questions ?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9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9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