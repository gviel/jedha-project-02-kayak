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5143500" cx="9144000"/>
  <p:notesSz cx="6858000" cy="9144000"/>
  <p:embeddedFontLst>
    <p:embeddedFont>
      <p:font typeface="Roboto"/>
      <p:regular r:id="rId24"/>
      <p:bold r:id="rId25"/>
      <p:italic r:id="rId26"/>
      <p:boldItalic r:id="rId27"/>
    </p:embeddedFont>
    <p:embeddedFont>
      <p:font typeface="Roboto Light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27">
          <p15:clr>
            <a:srgbClr val="747775"/>
          </p15:clr>
        </p15:guide>
        <p15:guide id="2" pos="5556">
          <p15:clr>
            <a:srgbClr val="747775"/>
          </p15:clr>
        </p15:guide>
        <p15:guide id="3" orient="horz" pos="3005">
          <p15:clr>
            <a:srgbClr val="747775"/>
          </p15:clr>
        </p15:guide>
        <p15:guide id="4" orient="horz" pos="45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F85F5A6-FB37-4443-884D-D67814B5976F}">
  <a:tblStyle styleId="{BF85F5A6-FB37-4443-884D-D67814B5976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27"/>
        <p:guide pos="5556"/>
        <p:guide pos="3005" orient="horz"/>
        <p:guide pos="454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Roboto-regular.fntdata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Roboto-italic.fntdata"/><Relationship Id="rId25" Type="http://schemas.openxmlformats.org/officeDocument/2006/relationships/font" Target="fonts/Roboto-bold.fntdata"/><Relationship Id="rId28" Type="http://schemas.openxmlformats.org/officeDocument/2006/relationships/font" Target="fonts/RobotoLight-regular.fntdata"/><Relationship Id="rId27" Type="http://schemas.openxmlformats.org/officeDocument/2006/relationships/font" Target="fonts/Roboto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RobotoLight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RobotoLight-boldItalic.fntdata"/><Relationship Id="rId30" Type="http://schemas.openxmlformats.org/officeDocument/2006/relationships/font" Target="fonts/RobotoLight-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ebf453f15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ebf453f15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edf06be40a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edf06be40a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edf06be40a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edf06be40a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edf06be40a_0_2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edf06be40a_0_2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edf06be40a_0_3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edf06be40a_0_3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edf06be40a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edf06be40a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edf06be40a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edf06be40a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edf06be40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edf06be40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df06be40a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edf06be40a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edf06be40a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edf06be40a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edf06be40a_0_3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edf06be40a_0_3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edf06be40a_0_3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edf06be40a_0_3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edf06be40a_0_3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edf06be40a_0_3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edf06be40a_0_3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edf06be40a_0_3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edf06be40a_0_3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edf06be40a_0_3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edf06be40a_0_3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edf06be40a_0_3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hyperlink" Target="https://github.com/gviel/jedha-project-02-kayak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booking.com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jedha-project-02-kayak-4kzhtcxgjjwncdsldqjdmq.streamlit.app/" TargetMode="External"/><Relationship Id="rId4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41B47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60000" y="1601375"/>
            <a:ext cx="84600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Bloc 1 : Construction et alimentation 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d'une infrastructure de gestion de données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7292" y="3945075"/>
            <a:ext cx="2184783" cy="468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360000" y="193102"/>
            <a:ext cx="5591100" cy="10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Jedha - Data Science Fullstack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lt1"/>
              </a:solidFill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60000" y="691740"/>
            <a:ext cx="846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 Certification CDSD (</a:t>
            </a:r>
            <a:r>
              <a:rPr lang="fr" sz="16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Concepteur développeur en science des données)</a:t>
            </a:r>
            <a:endParaRPr sz="16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58" name="Google Shape;58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43100" y="360000"/>
            <a:ext cx="576900" cy="39278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81800" y="3945075"/>
            <a:ext cx="1947501" cy="4683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0" name="Google Shape;60;p13"/>
          <p:cNvCxnSpPr/>
          <p:nvPr/>
        </p:nvCxnSpPr>
        <p:spPr>
          <a:xfrm>
            <a:off x="365400" y="1125299"/>
            <a:ext cx="84588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" name="Google Shape;61;p13"/>
          <p:cNvSpPr txBox="1"/>
          <p:nvPr/>
        </p:nvSpPr>
        <p:spPr>
          <a:xfrm>
            <a:off x="291750" y="2697020"/>
            <a:ext cx="8528400" cy="565800"/>
          </a:xfrm>
          <a:prstGeom prst="rect">
            <a:avLst/>
          </a:prstGeom>
          <a:solidFill>
            <a:srgbClr val="FFFFFF">
              <a:alpha val="20360"/>
            </a:srgbClr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</a:rPr>
              <a:t>Où planifiez vos prochaines vacances?</a:t>
            </a:r>
            <a:endParaRPr sz="2400">
              <a:solidFill>
                <a:schemeClr val="lt1"/>
              </a:solidFill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291625" y="4743950"/>
            <a:ext cx="8528400" cy="2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Guillaume VIEL - 21 juillet 2026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3"/>
          <p:cNvSpPr txBox="1"/>
          <p:nvPr/>
        </p:nvSpPr>
        <p:spPr>
          <a:xfrm>
            <a:off x="3554100" y="3353825"/>
            <a:ext cx="15747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u="sng">
                <a:solidFill>
                  <a:schemeClr val="hlink"/>
                </a:solidFill>
                <a:hlinkClick r:id="rId6"/>
              </a:rPr>
              <a:t>Dépôt Github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4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Contexte et besoins du projet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365400" y="754908"/>
            <a:ext cx="8454600" cy="5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rgbClr val="134F5C"/>
                </a:solidFill>
                <a:latin typeface="Calibri"/>
                <a:ea typeface="Calibri"/>
                <a:cs typeface="Calibri"/>
                <a:sym typeface="Calibri"/>
              </a:rPr>
              <a:t>Le besoin chez Kayak</a:t>
            </a:r>
            <a:endParaRPr sz="24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357825" y="1221516"/>
            <a:ext cx="85800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Développer une application de recommandation de destinations de vacances basée sur des données réelles afin d'aider les voyageurs à mieux choisir leur prochain séjour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70% de leurs clients le demandent</a:t>
            </a:r>
            <a:b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Pour identifier et recommander les meilleures destinations et hébergements à un instant donné, Kayak demande d’u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tiliser des informations réelles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la météo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les meilleurs hôtels disponibles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4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4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1 -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5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Objectifs et périmètre du projet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80" name="Google Shape;80;p15"/>
          <p:cNvSpPr txBox="1"/>
          <p:nvPr/>
        </p:nvSpPr>
        <p:spPr>
          <a:xfrm>
            <a:off x="365400" y="754908"/>
            <a:ext cx="8454600" cy="5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rgbClr val="134F5C"/>
                </a:solidFill>
                <a:latin typeface="Calibri"/>
                <a:ea typeface="Calibri"/>
                <a:cs typeface="Calibri"/>
                <a:sym typeface="Calibri"/>
              </a:rPr>
              <a:t>Objectifs</a:t>
            </a:r>
            <a:endParaRPr sz="24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302700" y="1361335"/>
            <a:ext cx="8580000" cy="31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Collecter des données pour chacune des 35 villes destinations :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données météorologiques avec OpenWeatherMap (OWM) : prévisions à 4j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données sur les hôtels les mieux notés sur Booking.com</a:t>
            </a:r>
            <a:b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Stocker ces données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dans un </a:t>
            </a: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data lake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les </a:t>
            </a: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extraire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transformer 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et les </a:t>
            </a: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charger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(</a:t>
            </a: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ETL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) 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vers un </a:t>
            </a: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data warehouse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fin de disposer de données exploitables pour l’application de recommandation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5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5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1 -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Architecture de la solution proposée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365400" y="703399"/>
            <a:ext cx="8454600" cy="5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rgbClr val="134F5C"/>
                </a:solidFill>
                <a:latin typeface="Calibri"/>
                <a:ea typeface="Calibri"/>
                <a:cs typeface="Calibri"/>
                <a:sym typeface="Calibri"/>
              </a:rPr>
              <a:t>Un pipeline automatisé en 7 étapes</a:t>
            </a:r>
            <a:endParaRPr sz="24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302700" y="1236232"/>
            <a:ext cx="8580000" cy="3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AutoNum type="arabicPeriod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Géocodage Nominatim : coordonnées géo (long., lat.) 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des 35 villes choisies en config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AutoNum type="arabicPeriod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API OpenWeatherMap : prévisions de J+1 à J+4 (free tier 1000 req/j)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AutoNum type="arabicPeriod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Score météo pondéré (0-100 points): permet le classement des villes destination 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AutoNum type="arabicPeriod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Scraping de </a:t>
            </a:r>
            <a:r>
              <a:rPr lang="fr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Booking.com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(avec Playwright) : les 20 premiers hôtels des 5 meilleurs destinations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AutoNum type="arabicPeriod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Upload vers le data lake qui sera un bucket AWS S3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AutoNum type="arabicPeriod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Chargement des données vers un data warehouse : BdD PostgreSQL (Neon)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AutoNum type="arabicPeriod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Dashboard de visualisation interactive (Streamlit)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Pipeline est exécuté automatiquement tous les jours à 6h00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Purge locale des fichiers effectuée pour météo et hôtels (pour les X dates précédents ou X jours précédents, X configurable) 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6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1 -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7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Choix des données (1)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 txBox="1"/>
          <p:nvPr/>
        </p:nvSpPr>
        <p:spPr>
          <a:xfrm>
            <a:off x="365400" y="666596"/>
            <a:ext cx="8454600" cy="15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7"/>
          <p:cNvSpPr txBox="1"/>
          <p:nvPr/>
        </p:nvSpPr>
        <p:spPr>
          <a:xfrm>
            <a:off x="302700" y="816900"/>
            <a:ext cx="8580000" cy="38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Nominatim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longitude, latitude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le nom de ville tel que le propose Nominatim (utile pour former l’adresse de l’hôtel)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OpenWeatherMap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date du jour et heure (8 créneaux de 3h)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température, température ressentie, temp. min et max en degrés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pression atmosphérique (mmHg)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% humidité, % couverture nuageuse, vitesse du vent (km/h)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probabilité d’avoir de la pluie (%)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Booking.com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nom de l’hôtel, lat.+long., description, note, URL booking, address, ville, code postal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7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7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1 -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8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Choix des données (2) : modèle de scoring météo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10" name="Google Shape;110;p18"/>
          <p:cNvSpPr txBox="1"/>
          <p:nvPr/>
        </p:nvSpPr>
        <p:spPr>
          <a:xfrm>
            <a:off x="365400" y="666596"/>
            <a:ext cx="8454600" cy="15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8"/>
          <p:cNvSpPr txBox="1"/>
          <p:nvPr/>
        </p:nvSpPr>
        <p:spPr>
          <a:xfrm>
            <a:off x="302700" y="816900"/>
            <a:ext cx="8580000" cy="40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Scoring fondé sur le </a:t>
            </a: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Tourism Climatic Index de Mieczkowski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: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score composite 0–100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fondé sur les 6 critères météo retenus (créneaux 08h–20h)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classification par tranche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des valeurs de météo retenues. Exemples :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temp. &lt;0°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= très froid =&gt; 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score 0/10, de 18 à 28° = idéal =&gt; 10/10, &gt;33°=&gt; 0/10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proba pluie : score = (1-rain_proba)x100, etc.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pour chaque jour de prévision : moyenne des valeurs de 8-20h puis </a:t>
            </a: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score pondéré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2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■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Température ressentie 30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%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2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■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Probabilité de pluie 30%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2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■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Vitesse du vent 15%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2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■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Couverture nuageuse 10%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2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■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Humidité 10%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2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■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Pression atmosphérique 5%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score final = moyenne des 4j + pénalité de variabilité météo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: -10 pts si min ou max dépasse mean ± 3σ (jusqu'à -20 pts au total)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8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8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1 -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9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19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Pipeline data : robustesse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0" name="Google Shape;120;p19"/>
          <p:cNvSpPr txBox="1"/>
          <p:nvPr/>
        </p:nvSpPr>
        <p:spPr>
          <a:xfrm>
            <a:off x="365400" y="754902"/>
            <a:ext cx="8454600" cy="1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9"/>
          <p:cNvSpPr txBox="1"/>
          <p:nvPr/>
        </p:nvSpPr>
        <p:spPr>
          <a:xfrm>
            <a:off x="302700" y="912400"/>
            <a:ext cx="8580000" cy="382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Conçu pour s’exécuter de façon </a:t>
            </a: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autonome en production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CRON qui s’exécute à 6h00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purge locale fichiers météo et hôtels des X jours précédents ou à moins X jours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Résilience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cache JSON local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pour les localisations des villes et résultats météo: pas d’appels redondants et évite d’envoyer des requêtes inutiles qui bloquerait l’accès à Nominatim ou OWM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mécanismes de réessai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avec backoff exponentiel et jitter sur les erreurs de requêtage (ex: 429, 5xx) vers Nominatim ou OWM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idempotence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: on vérifie les fichiers existants avant l’appel à l’API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Organisation et historisation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répertoires </a:t>
            </a: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de la forme ‘yyyyMMdd/’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en local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ou S3 + file naming patterns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chaque exécution est indépendante de la précédente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9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9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1 -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20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Pipeline data : coûts de la solution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30" name="Google Shape;130;p20"/>
          <p:cNvSpPr txBox="1"/>
          <p:nvPr/>
        </p:nvSpPr>
        <p:spPr>
          <a:xfrm>
            <a:off x="365400" y="754903"/>
            <a:ext cx="8454600" cy="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0"/>
          <p:cNvSpPr txBox="1"/>
          <p:nvPr/>
        </p:nvSpPr>
        <p:spPr>
          <a:xfrm>
            <a:off x="240000" y="897137"/>
            <a:ext cx="8580000" cy="38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solution AWS RDS non retenue par rapport à Neon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déploiement sur cloud (AWS EC2, GCP, OVH?) à prévoir pour le pipeline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0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20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1 -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4" name="Google Shape;134;p20"/>
          <p:cNvGraphicFramePr/>
          <p:nvPr/>
        </p:nvGraphicFramePr>
        <p:xfrm>
          <a:off x="952500" y="1809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{BF85F5A6-FB37-4443-884D-D67814B5976F}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Source</a:t>
                      </a:r>
                      <a:endParaRPr b="1"/>
                    </a:p>
                  </a:txBody>
                  <a:tcPr marT="91425" marB="91425" marR="91425" marL="91425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Limites</a:t>
                      </a:r>
                      <a:endParaRPr b="1"/>
                    </a:p>
                  </a:txBody>
                  <a:tcPr marT="91425" marB="91425" marR="91425" marL="91425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Plan</a:t>
                      </a:r>
                      <a:endParaRPr b="1"/>
                    </a:p>
                  </a:txBody>
                  <a:tcPr marT="91425" marB="91425" marR="91425" marL="91425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Co</a:t>
                      </a:r>
                      <a:r>
                        <a:rPr b="1" lang="fr"/>
                        <a:t>ûts</a:t>
                      </a:r>
                      <a:endParaRPr b="1"/>
                    </a:p>
                  </a:txBody>
                  <a:tcPr marT="91425" marB="91425" marR="91425" marL="91425">
                    <a:solidFill>
                      <a:srgbClr val="EFEFE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Nominatim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1 req / sec max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Gratuit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0€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OpenWeatherMap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1000 req/j max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Free tier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0€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AWS S3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5Go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pay-as-you-go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0€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Neon PostgreSQL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5 bdd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Serverless plan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0€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AWS RDS</a:t>
                      </a:r>
                      <a:endParaRPr/>
                    </a:p>
                  </a:txBody>
                  <a:tcPr marT="91425" marB="91425" marR="91425" marL="91425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-</a:t>
                      </a:r>
                      <a:endParaRPr/>
                    </a:p>
                  </a:txBody>
                  <a:tcPr marT="91425" marB="91425" marR="91425" marL="91425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fr">
                          <a:solidFill>
                            <a:schemeClr val="dk1"/>
                          </a:solidFill>
                        </a:rPr>
                        <a:t>pay-as-you-go</a:t>
                      </a:r>
                      <a:endParaRPr/>
                    </a:p>
                  </a:txBody>
                  <a:tcPr marT="91425" marB="91425" marR="91425" marL="91425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&gt;0€</a:t>
                      </a:r>
                      <a:endParaRPr/>
                    </a:p>
                  </a:txBody>
                  <a:tcPr marT="91425" marB="91425" marR="91425" marL="91425">
                    <a:solidFill>
                      <a:srgbClr val="B7B7B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Cloud server</a:t>
                      </a:r>
                      <a:endParaRPr/>
                    </a:p>
                  </a:txBody>
                  <a:tcPr marT="91425" marB="91425" marR="91425" marL="91425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>
                          <a:solidFill>
                            <a:schemeClr val="dk1"/>
                          </a:solidFill>
                        </a:rPr>
                        <a:t>OVH?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&gt;0€</a:t>
                      </a:r>
                      <a:endParaRPr/>
                    </a:p>
                  </a:txBody>
                  <a:tcPr marT="91425" marB="91425" marR="91425" marL="91425">
                    <a:solidFill>
                      <a:srgbClr val="B7B7B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1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21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Architecture détaillée de l’ETL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1" name="Google Shape;141;p21"/>
          <p:cNvSpPr txBox="1"/>
          <p:nvPr/>
        </p:nvSpPr>
        <p:spPr>
          <a:xfrm>
            <a:off x="365400" y="754885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1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1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1 -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4" name="Google Shape;144;p21"/>
          <p:cNvGrpSpPr/>
          <p:nvPr/>
        </p:nvGrpSpPr>
        <p:grpSpPr>
          <a:xfrm>
            <a:off x="5632317" y="1189775"/>
            <a:ext cx="3305700" cy="3580275"/>
            <a:chOff x="5632317" y="1189775"/>
            <a:chExt cx="3305700" cy="3580275"/>
          </a:xfrm>
        </p:grpSpPr>
        <p:sp>
          <p:nvSpPr>
            <p:cNvPr id="145" name="Google Shape;145;p21"/>
            <p:cNvSpPr/>
            <p:nvPr/>
          </p:nvSpPr>
          <p:spPr>
            <a:xfrm>
              <a:off x="5632317" y="1189775"/>
              <a:ext cx="3305700" cy="669000"/>
            </a:xfrm>
            <a:prstGeom prst="chevron">
              <a:avLst>
                <a:gd fmla="val 50000" name="adj"/>
              </a:avLst>
            </a:prstGeom>
            <a:solidFill>
              <a:srgbClr val="D8372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LOAD</a:t>
              </a:r>
              <a:endPara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" name="Google Shape;146;p21"/>
            <p:cNvSpPr txBox="1"/>
            <p:nvPr/>
          </p:nvSpPr>
          <p:spPr>
            <a:xfrm>
              <a:off x="5997075" y="1898450"/>
              <a:ext cx="2865000" cy="28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30480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200"/>
                <a:buFont typeface="Roboto"/>
                <a:buChar char="-"/>
              </a:pPr>
              <a:r>
                <a:rPr lang="fr" sz="1200">
                  <a:latin typeface="Roboto"/>
                  <a:ea typeface="Roboto"/>
                  <a:cs typeface="Roboto"/>
                  <a:sym typeface="Roboto"/>
                </a:rPr>
                <a:t>upload vers </a:t>
              </a:r>
              <a:r>
                <a:rPr lang="fr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S3/{PREFIX}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304800" lvl="1" marL="9144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200"/>
                <a:buFont typeface="Roboto"/>
                <a:buChar char="-"/>
              </a:pPr>
              <a:r>
                <a:rPr lang="fr" sz="1200">
                  <a:latin typeface="Roboto"/>
                  <a:ea typeface="Roboto"/>
                  <a:cs typeface="Roboto"/>
                  <a:sym typeface="Roboto"/>
                </a:rPr>
                <a:t>cities.csv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-304800" lvl="1" marL="9144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200"/>
                <a:buFont typeface="Roboto"/>
                <a:buChar char="-"/>
              </a:pPr>
              <a:r>
                <a:rPr lang="fr" sz="1200">
                  <a:latin typeface="Roboto"/>
                  <a:ea typeface="Roboto"/>
                  <a:cs typeface="Roboto"/>
                  <a:sym typeface="Roboto"/>
                </a:rPr>
                <a:t>fichiers météo et </a:t>
              </a:r>
              <a:r>
                <a:rPr lang="fr" sz="1200">
                  <a:latin typeface="Roboto"/>
                  <a:ea typeface="Roboto"/>
                  <a:cs typeface="Roboto"/>
                  <a:sym typeface="Roboto"/>
                </a:rPr>
                <a:t>hôtels</a:t>
              </a:r>
              <a:r>
                <a:rPr lang="fr" sz="1200">
                  <a:latin typeface="Roboto"/>
                  <a:ea typeface="Roboto"/>
                  <a:cs typeface="Roboto"/>
                  <a:sym typeface="Roboto"/>
                </a:rPr>
                <a:t> du jour dans YYYYMMDD/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-30480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200"/>
                <a:buFont typeface="Roboto"/>
                <a:buChar char="-"/>
              </a:pPr>
              <a:r>
                <a:rPr lang="fr" sz="1200">
                  <a:latin typeface="Roboto"/>
                  <a:ea typeface="Roboto"/>
                  <a:cs typeface="Roboto"/>
                  <a:sym typeface="Roboto"/>
                </a:rPr>
                <a:t>stratégies d’upload BDD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-304800" lvl="1" marL="9144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200"/>
                <a:buFont typeface="Roboto"/>
                <a:buChar char="-"/>
              </a:pPr>
              <a:r>
                <a:rPr lang="fr" sz="1200">
                  <a:latin typeface="Roboto"/>
                  <a:ea typeface="Roboto"/>
                  <a:cs typeface="Roboto"/>
                  <a:sym typeface="Roboto"/>
                </a:rPr>
                <a:t>replace pour cities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-304800" lvl="1" marL="9144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200"/>
                <a:buFont typeface="Roboto"/>
                <a:buChar char="-"/>
              </a:pPr>
              <a:r>
                <a:rPr lang="fr" sz="1200">
                  <a:latin typeface="Roboto"/>
                  <a:ea typeface="Roboto"/>
                  <a:cs typeface="Roboto"/>
                  <a:sym typeface="Roboto"/>
                </a:rPr>
                <a:t>replace pour les scores météo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-304800" lvl="1" marL="9144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200"/>
                <a:buFont typeface="Roboto"/>
                <a:buChar char="-"/>
              </a:pPr>
              <a:r>
                <a:rPr lang="fr" sz="1200">
                  <a:latin typeface="Roboto"/>
                  <a:ea typeface="Roboto"/>
                  <a:cs typeface="Roboto"/>
                  <a:sym typeface="Roboto"/>
                </a:rPr>
                <a:t>upsert pour les scores météo par jour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-304800" lvl="1" marL="9144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200"/>
                <a:buFont typeface="Roboto"/>
                <a:buChar char="-"/>
              </a:pPr>
              <a:r>
                <a:rPr lang="fr" sz="1200">
                  <a:latin typeface="Roboto"/>
                  <a:ea typeface="Roboto"/>
                  <a:cs typeface="Roboto"/>
                  <a:sym typeface="Roboto"/>
                </a:rPr>
                <a:t>merge + replace par plus récent pour les hôtels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7" name="Google Shape;147;p21"/>
          <p:cNvGrpSpPr/>
          <p:nvPr/>
        </p:nvGrpSpPr>
        <p:grpSpPr>
          <a:xfrm>
            <a:off x="-600" y="1189774"/>
            <a:ext cx="3546900" cy="3401901"/>
            <a:chOff x="0" y="1189989"/>
            <a:chExt cx="3546900" cy="3401901"/>
          </a:xfrm>
        </p:grpSpPr>
        <p:sp>
          <p:nvSpPr>
            <p:cNvPr id="148" name="Google Shape;148;p21"/>
            <p:cNvSpPr/>
            <p:nvPr/>
          </p:nvSpPr>
          <p:spPr>
            <a:xfrm>
              <a:off x="0" y="1189989"/>
              <a:ext cx="3546900" cy="669000"/>
            </a:xfrm>
            <a:prstGeom prst="homePlate">
              <a:avLst>
                <a:gd fmla="val 50000" name="adj"/>
              </a:avLst>
            </a:prstGeom>
            <a:solidFill>
              <a:srgbClr val="801F1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EXTRACT</a:t>
              </a:r>
              <a:endPara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" name="Google Shape;149;p21"/>
            <p:cNvSpPr txBox="1"/>
            <p:nvPr/>
          </p:nvSpPr>
          <p:spPr>
            <a:xfrm>
              <a:off x="250775" y="1976190"/>
              <a:ext cx="26343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fr" sz="1200">
                  <a:latin typeface="Roboto"/>
                  <a:ea typeface="Roboto"/>
                  <a:cs typeface="Roboto"/>
                  <a:sym typeface="Roboto"/>
                </a:rPr>
                <a:t>NOMINATIM</a:t>
              </a:r>
              <a:r>
                <a:rPr lang="fr" sz="1200">
                  <a:latin typeface="Roboto"/>
                  <a:ea typeface="Roboto"/>
                  <a:cs typeface="Roboto"/>
                  <a:sym typeface="Roboto"/>
                </a:rPr>
                <a:t> : mise en cache json/cities/city-{city_id}.json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fr" sz="1200">
                  <a:latin typeface="Roboto"/>
                  <a:ea typeface="Roboto"/>
                  <a:cs typeface="Roboto"/>
                  <a:sym typeface="Roboto"/>
                </a:rPr>
                <a:t>OWM</a:t>
              </a:r>
              <a:r>
                <a:rPr lang="fr" sz="1200">
                  <a:latin typeface="Roboto"/>
                  <a:ea typeface="Roboto"/>
                  <a:cs typeface="Roboto"/>
                  <a:sym typeface="Roboto"/>
                </a:rPr>
                <a:t> : mise en cache weather/YYYYMMDD/weather-{city_id}-YYYYMMDD.json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fr" sz="1200">
                  <a:latin typeface="Roboto"/>
                  <a:ea typeface="Roboto"/>
                  <a:cs typeface="Roboto"/>
                  <a:sym typeface="Roboto"/>
                </a:rPr>
                <a:t>Booking</a:t>
              </a:r>
              <a:r>
                <a:rPr lang="fr" sz="1200">
                  <a:latin typeface="Roboto"/>
                  <a:ea typeface="Roboto"/>
                  <a:cs typeface="Roboto"/>
                  <a:sym typeface="Roboto"/>
                </a:rPr>
                <a:t> : mise en cache de html/{city_id}_liste.html (pour debug)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0" name="Google Shape;150;p21"/>
          <p:cNvGrpSpPr/>
          <p:nvPr/>
        </p:nvGrpSpPr>
        <p:grpSpPr>
          <a:xfrm>
            <a:off x="2944204" y="1189775"/>
            <a:ext cx="3305700" cy="3519200"/>
            <a:chOff x="2944204" y="1189775"/>
            <a:chExt cx="3305700" cy="3519200"/>
          </a:xfrm>
        </p:grpSpPr>
        <p:sp>
          <p:nvSpPr>
            <p:cNvPr id="151" name="Google Shape;151;p21"/>
            <p:cNvSpPr/>
            <p:nvPr/>
          </p:nvSpPr>
          <p:spPr>
            <a:xfrm>
              <a:off x="2944204" y="1189775"/>
              <a:ext cx="3305700" cy="669000"/>
            </a:xfrm>
            <a:prstGeom prst="chevron">
              <a:avLst>
                <a:gd fmla="val 50000" name="adj"/>
              </a:avLst>
            </a:prstGeom>
            <a:solidFill>
              <a:srgbClr val="B02B2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TRANSFORM</a:t>
              </a:r>
              <a:endPara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2" name="Google Shape;152;p21"/>
            <p:cNvSpPr txBox="1"/>
            <p:nvPr/>
          </p:nvSpPr>
          <p:spPr>
            <a:xfrm>
              <a:off x="3281850" y="1924675"/>
              <a:ext cx="2685900" cy="278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fr" sz="1200">
                  <a:latin typeface="Roboto"/>
                  <a:ea typeface="Roboto"/>
                  <a:cs typeface="Roboto"/>
                  <a:sym typeface="Roboto"/>
                </a:rPr>
                <a:t>NOMINATIM</a:t>
              </a:r>
              <a:r>
                <a:rPr lang="fr" sz="1200">
                  <a:latin typeface="Roboto"/>
                  <a:ea typeface="Roboto"/>
                  <a:cs typeface="Roboto"/>
                  <a:sym typeface="Roboto"/>
                </a:rPr>
                <a:t> : compilation des villes dans csv/cities.csv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fr" sz="1200">
                  <a:latin typeface="Roboto"/>
                  <a:ea typeface="Roboto"/>
                  <a:cs typeface="Roboto"/>
                  <a:sym typeface="Roboto"/>
                </a:rPr>
                <a:t>OWM</a:t>
              </a:r>
              <a:r>
                <a:rPr lang="fr" sz="1200">
                  <a:latin typeface="Roboto"/>
                  <a:ea typeface="Roboto"/>
                  <a:cs typeface="Roboto"/>
                  <a:sym typeface="Roboto"/>
                </a:rPr>
                <a:t> : csv/YYYYMMDD/weather-scores-YYYYMMDD.csv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csv/YYYYMMDD/weather-scores-daily-YYYYMMDD.csv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fr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Booking</a:t>
              </a:r>
              <a:r>
                <a:rPr lang="fr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: en même temps que l’extract csv/YYYYMMDD/hotels-{city_id}-YYYYMMDD.csv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2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22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Arborescence locale de stockage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59" name="Google Shape;159;p22"/>
          <p:cNvSpPr txBox="1"/>
          <p:nvPr/>
        </p:nvSpPr>
        <p:spPr>
          <a:xfrm>
            <a:off x="365400" y="754908"/>
            <a:ext cx="8454600" cy="5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2"/>
          <p:cNvSpPr txBox="1"/>
          <p:nvPr/>
        </p:nvSpPr>
        <p:spPr>
          <a:xfrm>
            <a:off x="282000" y="754898"/>
            <a:ext cx="8580000" cy="372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data/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│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├── csv/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│   ├── cities.csv                               ← référence villes (city_id, city_name, lat, lon)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│   │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│   └── YYYYMMDD/                                ← un répertoire par jour d'extraction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│       ├── weather-scores-YYYYMMDD.csv          ← agrégat 4j par ville (score_final)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│       ├── weather-scores-daily-YYYYMMDD.csv    ← score par ville × jour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│       └── hotels-{city_id}-YYYYMMDD.csv        ← un fichier par ville scrapée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│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├── json/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│   ├── cities/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│   │   └── city-{city_id}.json                  ← cache Nominatim par ville (permanent)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│   │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│   └── weather/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│       └── YYYYMMDD/                            ← un répertoire par jour de prévision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│           └── weather-{city_id}-YYYYMMDD.json  ← prévisions J+1 à J+4 (4 fichiers/ville)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│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└── html/                                        ← pages Booking.com (debug, purge &gt; 4j)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   └── {city_id}_liste.html</a:t>
            </a:r>
            <a:endParaRPr b="1"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22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2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1 -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23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Arborescence data lake S3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69" name="Google Shape;169;p23"/>
          <p:cNvSpPr txBox="1"/>
          <p:nvPr/>
        </p:nvSpPr>
        <p:spPr>
          <a:xfrm>
            <a:off x="344700" y="722528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3"/>
          <p:cNvSpPr txBox="1"/>
          <p:nvPr/>
        </p:nvSpPr>
        <p:spPr>
          <a:xfrm>
            <a:off x="282000" y="1195646"/>
            <a:ext cx="8580000" cy="35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s3://&lt;S3_BUCKET&gt;/</a:t>
            </a:r>
            <a:endParaRPr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│</a:t>
            </a:r>
            <a:endParaRPr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└── csv/                                         ← S3_PREFIX (défaut : "csv/")</a:t>
            </a:r>
            <a:endParaRPr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   │</a:t>
            </a:r>
            <a:endParaRPr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   ├── cities.csv                               ← référence villes (pas de date)</a:t>
            </a:r>
            <a:endParaRPr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   │</a:t>
            </a:r>
            <a:endParaRPr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   └── YYYYMMDD/                                ← un répertoire par jour d'extraction</a:t>
            </a:r>
            <a:endParaRPr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       ├── weather-scores-YYYYMMDD.csv          ← agrégat 4j par ville (score_final)</a:t>
            </a:r>
            <a:endParaRPr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       ├── weather-scores-daily-YYYYMMDD.csv    ← score par ville × jour (pour la courbe de suivi des scores)</a:t>
            </a:r>
            <a:endParaRPr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       └── hotels-{city_id}-YYYYMMDD.csv        ← un fichier par ville scrapée</a:t>
            </a:r>
            <a:endParaRPr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3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23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1 -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4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24"/>
          <p:cNvSpPr txBox="1"/>
          <p:nvPr/>
        </p:nvSpPr>
        <p:spPr>
          <a:xfrm>
            <a:off x="344700" y="0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Schéma du data warehouse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79" name="Google Shape;179;p24"/>
          <p:cNvSpPr txBox="1"/>
          <p:nvPr/>
        </p:nvSpPr>
        <p:spPr>
          <a:xfrm>
            <a:off x="302700" y="720008"/>
            <a:ext cx="8454600" cy="5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 txBox="1"/>
          <p:nvPr/>
        </p:nvSpPr>
        <p:spPr>
          <a:xfrm>
            <a:off x="302700" y="1361335"/>
            <a:ext cx="8580000" cy="31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5 tables PostgreSQL :</a:t>
            </a:r>
            <a:b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history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: contient la date de chargement de chacune des tables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cities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: contient les données Nominatim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weather_scores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: les scores calculés pour le jour J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weather_scores_daily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: pour avoir un historique des scores détaillés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hotels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: les données relatives des hôtels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24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1 -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5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25"/>
          <p:cNvSpPr txBox="1"/>
          <p:nvPr/>
        </p:nvSpPr>
        <p:spPr>
          <a:xfrm>
            <a:off x="344700" y="-330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Dashboard en production (1)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89" name="Google Shape;189;p25"/>
          <p:cNvSpPr txBox="1"/>
          <p:nvPr/>
        </p:nvSpPr>
        <p:spPr>
          <a:xfrm>
            <a:off x="365400" y="754897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https://jedha-project-02-kayak-4kzhtcxgjjwncdsldqjdmq.streamlit.app/</a:t>
            </a:r>
            <a:endParaRPr sz="18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134F5C"/>
                </a:solidFill>
                <a:latin typeface="Calibri"/>
                <a:ea typeface="Calibri"/>
                <a:cs typeface="Calibri"/>
                <a:sym typeface="Calibri"/>
              </a:rPr>
              <a:t>Carte interactive des destinations avec les 5 premiers dans le tableau à droite</a:t>
            </a:r>
            <a:endParaRPr sz="18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 txBox="1"/>
          <p:nvPr/>
        </p:nvSpPr>
        <p:spPr>
          <a:xfrm>
            <a:off x="302700" y="1361325"/>
            <a:ext cx="4384500" cy="31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25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1 -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3" name="Google Shape;19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573735"/>
            <a:ext cx="9143998" cy="32028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6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26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Dashboard en production (2)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26"/>
          <p:cNvSpPr txBox="1"/>
          <p:nvPr/>
        </p:nvSpPr>
        <p:spPr>
          <a:xfrm>
            <a:off x="365400" y="754908"/>
            <a:ext cx="8454600" cy="5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134F5C"/>
                </a:solidFill>
                <a:latin typeface="Calibri"/>
                <a:ea typeface="Calibri"/>
                <a:cs typeface="Calibri"/>
                <a:sym typeface="Calibri"/>
              </a:rPr>
              <a:t>Carte interactive des hôtels (et popup) avec tableau à droite pour les infos</a:t>
            </a:r>
            <a:endParaRPr sz="18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6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6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1 -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3" name="Google Shape;20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45808"/>
            <a:ext cx="8839200" cy="27008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7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27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Difficultés ou limitations rencontrées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0" name="Google Shape;210;p27"/>
          <p:cNvSpPr txBox="1"/>
          <p:nvPr/>
        </p:nvSpPr>
        <p:spPr>
          <a:xfrm>
            <a:off x="365400" y="754908"/>
            <a:ext cx="8454600" cy="5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7"/>
          <p:cNvSpPr txBox="1"/>
          <p:nvPr/>
        </p:nvSpPr>
        <p:spPr>
          <a:xfrm>
            <a:off x="302700" y="1361335"/>
            <a:ext cx="8580000" cy="31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Nominatim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: limitation du nombre de requêtes -&gt; cache + pause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OpenWeatherMap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: limitation à 4j + gestion d’erreurs API + choix des données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Modèle de scoring météo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: choix des données et des 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agrégations pour le modèle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Scraping booking.com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: un anti-bot agressif qui a nécessité une bascule de scrapy vers Playwright pour mieux simuler le comportement d’un humain (délais de clic, fermeture popups)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Architecture autonome</a:t>
            </a: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: pas de Notebook, scripts indépendants, déploiement sous forme d’un pipeline quotidien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7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27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1 -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8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28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Améliorations possibles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20" name="Google Shape;220;p28"/>
          <p:cNvSpPr txBox="1"/>
          <p:nvPr/>
        </p:nvSpPr>
        <p:spPr>
          <a:xfrm>
            <a:off x="365400" y="754908"/>
            <a:ext cx="8454600" cy="5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8"/>
          <p:cNvSpPr txBox="1"/>
          <p:nvPr/>
        </p:nvSpPr>
        <p:spPr>
          <a:xfrm>
            <a:off x="282000" y="1325785"/>
            <a:ext cx="8580000" cy="31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Utiliser un orchestrateur de pipeline :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Airflow ou Jenkins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Interface web pour téléphones mobiles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par exemple avec une stack Nextjs / Typescript / Boostrap CSS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8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28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CDSD - Bloc 1 - Guillaume VIEL - 21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41B47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9"/>
          <p:cNvSpPr txBox="1"/>
          <p:nvPr/>
        </p:nvSpPr>
        <p:spPr>
          <a:xfrm>
            <a:off x="360000" y="1601375"/>
            <a:ext cx="846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Questions ?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29" name="Google Shape;229;p29"/>
          <p:cNvSpPr txBox="1"/>
          <p:nvPr/>
        </p:nvSpPr>
        <p:spPr>
          <a:xfrm>
            <a:off x="360000" y="193102"/>
            <a:ext cx="5591100" cy="10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Jedha - Data Science Fullstack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lt1"/>
              </a:solidFill>
            </a:endParaRPr>
          </a:p>
        </p:txBody>
      </p:sp>
      <p:sp>
        <p:nvSpPr>
          <p:cNvPr id="230" name="Google Shape;230;p29"/>
          <p:cNvSpPr txBox="1"/>
          <p:nvPr/>
        </p:nvSpPr>
        <p:spPr>
          <a:xfrm>
            <a:off x="360000" y="691740"/>
            <a:ext cx="846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 Certification CDSD (Concepteur développeur en science des données)</a:t>
            </a:r>
            <a:endParaRPr sz="16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31" name="Google Shape;231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43100" y="360000"/>
            <a:ext cx="576900" cy="3927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32" name="Google Shape;232;p29"/>
          <p:cNvCxnSpPr/>
          <p:nvPr/>
        </p:nvCxnSpPr>
        <p:spPr>
          <a:xfrm>
            <a:off x="365400" y="1125299"/>
            <a:ext cx="84588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3" name="Google Shape;233;p29"/>
          <p:cNvSpPr txBox="1"/>
          <p:nvPr/>
        </p:nvSpPr>
        <p:spPr>
          <a:xfrm>
            <a:off x="291625" y="4743950"/>
            <a:ext cx="8528400" cy="2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Guillaume VIEL - 21 juillet 2026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